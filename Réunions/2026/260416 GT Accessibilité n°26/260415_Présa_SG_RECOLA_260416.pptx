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tkinson Hyperlegibl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tkinsonHyperlegible-regular.fntdata"/><Relationship Id="rId10" Type="http://schemas.openxmlformats.org/officeDocument/2006/relationships/slide" Target="slides/slide5.xml"/><Relationship Id="rId13" Type="http://schemas.openxmlformats.org/officeDocument/2006/relationships/font" Target="fonts/AtkinsonHyperlegible-italic.fntdata"/><Relationship Id="rId12" Type="http://schemas.openxmlformats.org/officeDocument/2006/relationships/font" Target="fonts/AtkinsonHyperlegibl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AtkinsonHyperlegibl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8f7496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8f7496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cbcda2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cbcda2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8f74960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8f74960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f74960d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8f74960d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g7tHdB1oyqo0yx-u_t5cKdiCrXbCnK4oRXrloCY3cMs/edit?gid=0#gid=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  <a:solidFill>
            <a:srgbClr val="3D85C6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GT RECOLA</a:t>
            </a:r>
            <a:endParaRPr sz="1889"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749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Atkinson Hyperlegible"/>
                <a:ea typeface="Atkinson Hyperlegible"/>
                <a:cs typeface="Atkinson Hyperlegible"/>
                <a:sym typeface="Atkinson Hyperlegible"/>
              </a:rPr>
              <a:t>Révision des modalités d’attribution du caractère obligatoire des attributs</a:t>
            </a:r>
            <a:endParaRPr sz="1800"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Atkinson Hyperlegible"/>
                <a:ea typeface="Atkinson Hyperlegible"/>
                <a:cs typeface="Atkinson Hyperlegible"/>
                <a:sym typeface="Atkinson Hyperlegible"/>
              </a:rPr>
              <a:t>Présentation GT CNIG - 18/04/2026</a:t>
            </a:r>
            <a:endParaRPr sz="1800"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6" name="Google Shape;56;p13"/>
          <p:cNvSpPr/>
          <p:nvPr/>
        </p:nvSpPr>
        <p:spPr>
          <a:xfrm rot="-7873376">
            <a:off x="319441" y="943245"/>
            <a:ext cx="1004718" cy="475563"/>
          </a:xfrm>
          <a:prstGeom prst="corner">
            <a:avLst>
              <a:gd fmla="val 29205" name="adj1"/>
              <a:gd fmla="val 38038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97600" y="543325"/>
            <a:ext cx="8392500" cy="40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Rappel de l’objet</a:t>
            </a:r>
            <a:endParaRPr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97600" y="995600"/>
            <a:ext cx="83925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Engager une réflexion sur le caractère obligatoire des attributs du format CNIG.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Définir un socle de données minimal mais suffisant pour alimenter les calculateurs d’itinéraire et les PAVE.</a:t>
            </a:r>
            <a:b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</a:b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Garantir que les données collectées répondent aux besoins des usagers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Aider les collectivité à s’engager vers les travaux de mise en accessibilité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Simplifier et accélérer le relevé terrain en évitant les attributs inutiles ou redondants.</a:t>
            </a:r>
            <a:b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</a:b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Clarifier qu’une donnée facultative non relevée ne constitue pas une absence de donnée.</a:t>
            </a:r>
            <a:b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</a:b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Ouvrir la réflexion sur la mise en place de valeurs par défaut lorsque cela est pertinent.</a:t>
            </a:r>
            <a:endParaRPr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3D85C6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</a:rPr>
              <a:t>fournir des éléments pour indiquer des références de collectes au km de cheminement.</a:t>
            </a:r>
            <a:endParaRPr sz="21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3" name="Google Shape;63;p14"/>
          <p:cNvSpPr/>
          <p:nvPr/>
        </p:nvSpPr>
        <p:spPr>
          <a:xfrm rot="-7872585">
            <a:off x="397604" y="548453"/>
            <a:ext cx="474942" cy="416043"/>
          </a:xfrm>
          <a:prstGeom prst="corner">
            <a:avLst>
              <a:gd fmla="val 29205" name="adj1"/>
              <a:gd fmla="val 31231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97600" y="543325"/>
            <a:ext cx="8392500" cy="40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Points de vigilance</a:t>
            </a:r>
            <a:endParaRPr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7600" y="995600"/>
            <a:ext cx="8392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N</a:t>
            </a: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e pas laisser la place à des opérateurs qui pourraient en profiter pour dégrader le relevé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Ne pas modifier les attributs et les grands principes du standard CNIG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0" name="Google Shape;70;p15"/>
          <p:cNvSpPr/>
          <p:nvPr/>
        </p:nvSpPr>
        <p:spPr>
          <a:xfrm rot="-7872585">
            <a:off x="397604" y="548453"/>
            <a:ext cx="474942" cy="416043"/>
          </a:xfrm>
          <a:prstGeom prst="corner">
            <a:avLst>
              <a:gd fmla="val 29205" name="adj1"/>
              <a:gd fmla="val 31231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97600" y="543325"/>
            <a:ext cx="8392500" cy="40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Exemple de méthode</a:t>
            </a:r>
            <a:endParaRPr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6" name="Google Shape;76;p16"/>
          <p:cNvSpPr/>
          <p:nvPr/>
        </p:nvSpPr>
        <p:spPr>
          <a:xfrm rot="-7872585">
            <a:off x="397604" y="548453"/>
            <a:ext cx="474942" cy="416043"/>
          </a:xfrm>
          <a:prstGeom prst="corner">
            <a:avLst>
              <a:gd fmla="val 29205" name="adj1"/>
              <a:gd fmla="val 31231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938300" y="2375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Lien vers le tableau de travail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397600" y="543325"/>
            <a:ext cx="8392500" cy="40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Calendrier</a:t>
            </a:r>
            <a:endParaRPr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54100" y="1347500"/>
            <a:ext cx="78690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B7B7B7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mi-février : réunion</a:t>
            </a:r>
            <a:endParaRPr>
              <a:solidFill>
                <a:srgbClr val="222222"/>
              </a:solidFill>
              <a:highlight>
                <a:srgbClr val="B7B7B7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B7B7B7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mi-mars : finir le passage en revu des attributs</a:t>
            </a:r>
            <a:endParaRPr>
              <a:solidFill>
                <a:srgbClr val="222222"/>
              </a:solidFill>
              <a:highlight>
                <a:srgbClr val="B7B7B7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mi-avril (avant le 16 avril pour précéder le GT) : finir la compilation et format test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mi-mai : finir test sur 3 périmètres : urbain dense, </a:t>
            </a: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périurbain</a:t>
            </a: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, rural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fin-juin : finir les retours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tkinson Hyperlegible"/>
              <a:buChar char="●"/>
            </a:pPr>
            <a:r>
              <a:rPr lang="fr">
                <a:solidFill>
                  <a:srgbClr val="222222"/>
                </a:solidFill>
                <a:highlight>
                  <a:srgbClr val="FFFFFF"/>
                </a:highlight>
                <a:latin typeface="Atkinson Hyperlegible"/>
                <a:ea typeface="Atkinson Hyperlegible"/>
                <a:cs typeface="Atkinson Hyperlegible"/>
                <a:sym typeface="Atkinson Hyperlegible"/>
              </a:rPr>
              <a:t>8 octobre : présentation au GT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4" name="Google Shape;84;p17"/>
          <p:cNvSpPr/>
          <p:nvPr/>
        </p:nvSpPr>
        <p:spPr>
          <a:xfrm rot="-7872585">
            <a:off x="397604" y="548453"/>
            <a:ext cx="474942" cy="416043"/>
          </a:xfrm>
          <a:prstGeom prst="corner">
            <a:avLst>
              <a:gd fmla="val 29205" name="adj1"/>
              <a:gd fmla="val 31231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